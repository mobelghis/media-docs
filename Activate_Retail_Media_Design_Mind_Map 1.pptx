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&lt;File&gt;Activate_Retail_Media_Product_Bible_v1.9_Methodology_and_Model_Dependencies (1).docx&lt;/File&gt;
[Sources]
- &lt;File&gt;Activate_Retail_Media_Product_Bible_v1.9_Methodology_and_Model_Dependencies (1).docx&lt;/File&gt; (Product definition, principles, product model, feature catalogue, experience model, roadmap, governance and data dependencies).
- &lt;File&gt;Activate_Retail_Media_KPI_Catalogue (V 1.2).xlsx&lt;/File&gt; (KPI groups, result classes, delivery phases and required inputs).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B92"/>
          </a:solidFill>
          <a:ln w="12700">
            <a:solidFill>
              <a:srgbClr val="168B9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68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  |  RETAIL MEDIA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84080" y="228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WORKING MAP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6126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0"/>
                </a:solidFill>
              </a:rPr>
              <a:t>Product mind map for experience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5"/>
                </a:solidFill>
              </a:rPr>
              <a:t>Use this as the shared structure for information architecture, screen flows, states and design prioritization.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383280" y="2212848"/>
            <a:ext cx="2715768" cy="1673352"/>
          </a:xfrm>
          <a:prstGeom prst="line">
            <a:avLst/>
          </a:prstGeom>
          <a:noFill/>
          <a:ln w="22860">
            <a:solidFill>
              <a:srgbClr val="168B9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193792" y="2724912"/>
            <a:ext cx="905256" cy="1161288"/>
          </a:xfrm>
          <a:prstGeom prst="line">
            <a:avLst/>
          </a:prstGeom>
          <a:noFill/>
          <a:ln w="22860">
            <a:solidFill>
              <a:srgbClr val="4D78B8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099048" y="2212848"/>
            <a:ext cx="2569464" cy="1673352"/>
          </a:xfrm>
          <a:prstGeom prst="line">
            <a:avLst/>
          </a:prstGeom>
          <a:noFill/>
          <a:ln w="22860">
            <a:solidFill>
              <a:srgbClr val="B8791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099048" y="3867912"/>
            <a:ext cx="2770632" cy="18288"/>
          </a:xfrm>
          <a:prstGeom prst="line">
            <a:avLst/>
          </a:prstGeom>
          <a:noFill/>
          <a:ln w="22860">
            <a:solidFill>
              <a:srgbClr val="C84C5A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99048" y="3886200"/>
            <a:ext cx="2450592" cy="1591056"/>
          </a:xfrm>
          <a:prstGeom prst="line">
            <a:avLst/>
          </a:prstGeom>
          <a:noFill/>
          <a:ln w="22860">
            <a:solidFill>
              <a:srgbClr val="7B61A8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099048" y="3886200"/>
            <a:ext cx="1" cy="1234440"/>
          </a:xfrm>
          <a:prstGeom prst="line">
            <a:avLst/>
          </a:prstGeom>
          <a:noFill/>
          <a:ln w="22860">
            <a:solidFill>
              <a:srgbClr val="4B8F5A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474720" y="3886200"/>
            <a:ext cx="2624328" cy="1563624"/>
          </a:xfrm>
          <a:prstGeom prst="line">
            <a:avLst/>
          </a:prstGeom>
          <a:noFill/>
          <a:ln w="22860">
            <a:solidFill>
              <a:srgbClr val="D49420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337560" y="3849624"/>
            <a:ext cx="2761488" cy="36576"/>
          </a:xfrm>
          <a:prstGeom prst="line">
            <a:avLst/>
          </a:prstGeom>
          <a:noFill/>
          <a:ln w="22860">
            <a:solidFill>
              <a:srgbClr val="3E789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315968" y="2971800"/>
            <a:ext cx="3566160" cy="1700784"/>
          </a:xfrm>
          <a:prstGeom prst="ellipse">
            <a:avLst/>
          </a:prstGeom>
          <a:solidFill>
            <a:srgbClr val="082B5C"/>
          </a:solidFill>
          <a:ln w="38100">
            <a:solidFill>
              <a:srgbClr val="168B9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273552"/>
            <a:ext cx="2871216" cy="832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ACTIVATE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RETAIL MEDIA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MEASUREMENT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18304" y="423367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FE5E3"/>
                </a:solidFill>
              </a:rPr>
              <a:t>A governed commercial story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D9F1F0"/>
          </a:solidFill>
          <a:ln w="17780">
            <a:solidFill>
              <a:srgbClr val="168B92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" y="1746504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8B92"/>
                </a:solidFill>
              </a:rPr>
              <a:t>1  USERS &amp; DECISIONS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" y="2020824"/>
            <a:ext cx="255117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Commercial lead: explain and act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Analyst: explore approved results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Operations: monitor readiness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Data Science: approve causal outputs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822192" y="1463040"/>
            <a:ext cx="2743200" cy="1261872"/>
          </a:xfrm>
          <a:prstGeom prst="roundRect">
            <a:avLst>
              <a:gd name="adj" fmla="val 5797"/>
            </a:avLst>
          </a:prstGeom>
          <a:solidFill>
            <a:srgbClr val="E7EFFC"/>
          </a:solidFill>
          <a:ln w="17780">
            <a:solidFill>
              <a:srgbClr val="4D78B8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86784" y="158191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78B8"/>
                </a:solidFill>
              </a:rPr>
              <a:t>2  CORE EXPERIENCES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86784" y="1856232"/>
            <a:ext cx="241401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Overview: where to focus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Campaign Story: what happened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Explorer: inspect approved detail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Future: Commerce Performance Overview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668512" y="1627632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7EEDC"/>
          </a:solidFill>
          <a:ln w="17780">
            <a:solidFill>
              <a:srgbClr val="B87912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33104" y="174650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7912"/>
                </a:solidFill>
              </a:rPr>
              <a:t>3  MEASUREMENT LAYERS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33104" y="2020824"/>
            <a:ext cx="264261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Descriptive: what audience bought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Attributed: what followed media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Incremental: what would not happen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Partner-reported and diagnostic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869680" y="3246120"/>
            <a:ext cx="2770632" cy="1243584"/>
          </a:xfrm>
          <a:prstGeom prst="roundRect">
            <a:avLst>
              <a:gd name="adj" fmla="val 5882"/>
            </a:avLst>
          </a:prstGeom>
          <a:solidFill>
            <a:srgbClr val="FCE7E9"/>
          </a:solidFill>
          <a:ln w="17780">
            <a:solidFill>
              <a:srgbClr val="C84C5A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34272" y="336499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4C5A"/>
                </a:solidFill>
              </a:rPr>
              <a:t>4  RESULT TRUST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34272" y="3639312"/>
            <a:ext cx="244144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Readiness: Ready / Processing / Issue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Lifecycle: calculated to published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Method, scope, version and lineage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Privacy, access and approvals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549640" y="4873752"/>
            <a:ext cx="3090672" cy="1207008"/>
          </a:xfrm>
          <a:prstGeom prst="roundRect">
            <a:avLst>
              <a:gd name="adj" fmla="val 6061"/>
            </a:avLst>
          </a:prstGeom>
          <a:solidFill>
            <a:srgbClr val="EDE8F7"/>
          </a:solidFill>
          <a:ln w="17780">
            <a:solidFill>
              <a:srgbClr val="7B61A8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14232" y="4992624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61A8"/>
                </a:solidFill>
              </a:rPr>
              <a:t>5  STATES &amp; EXCEPTIONS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14232" y="5266944"/>
            <a:ext cx="2761488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Unavailable explains why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Aggregate and shopper data stay separate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No unsupported totals or causal claims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Corrections create a new version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3904488" y="5120640"/>
            <a:ext cx="4389120" cy="1115568"/>
          </a:xfrm>
          <a:prstGeom prst="roundRect">
            <a:avLst>
              <a:gd name="adj" fmla="val 6557"/>
            </a:avLst>
          </a:prstGeom>
          <a:solidFill>
            <a:srgbClr val="E4F3E8"/>
          </a:solidFill>
          <a:ln w="17780">
            <a:solidFill>
              <a:srgbClr val="4B8F5A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069080" y="523951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8F5A"/>
                </a:solidFill>
              </a:rPr>
              <a:t>6  DESIGN OBJECTS &amp; NAVIGATION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69080" y="5513832"/>
            <a:ext cx="405993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Campaign &gt; execution group &gt; placement &gt; creative &gt; product scope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Audience funnel: selected &gt; matched &gt; exposed &gt; identified &gt; buyers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Filters, breakdowns, evidence drawer, drill-down and export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02920" y="4818888"/>
            <a:ext cx="2971800" cy="1261872"/>
          </a:xfrm>
          <a:prstGeom prst="roundRect">
            <a:avLst>
              <a:gd name="adj" fmla="val 5797"/>
            </a:avLst>
          </a:prstGeom>
          <a:solidFill>
            <a:srgbClr val="FFF2D9"/>
          </a:solidFill>
          <a:ln w="17780">
            <a:solidFill>
              <a:srgbClr val="D49420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7512" y="4937760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9420"/>
                </a:solidFill>
              </a:rPr>
              <a:t>7  ROADMAP &amp; DEPENDENCIES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" y="5212080"/>
            <a:ext cx="264261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P1: closed-loop descriptive foundation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P2: richer attributed intelligence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P3: causal and consequence measurement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Future: market context and recommendations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02920" y="3246120"/>
            <a:ext cx="2834640" cy="1207008"/>
          </a:xfrm>
          <a:prstGeom prst="roundRect">
            <a:avLst>
              <a:gd name="adj" fmla="val 6061"/>
            </a:avLst>
          </a:prstGeom>
          <a:solidFill>
            <a:srgbClr val="E7F0F4"/>
          </a:solidFill>
          <a:ln w="17780">
            <a:solidFill>
              <a:srgbClr val="3E7892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7512" y="3364992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892"/>
                </a:solidFill>
              </a:rPr>
              <a:t>8  DATA FOUNDATION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67512" y="3639312"/>
            <a:ext cx="250545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Frozen audience and identity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Campaign and product scope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Media totals/events and TLOG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63542"/>
                </a:solidFill>
              </a:rPr>
              <a:t>Mappings, quality gates and model registry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75488" y="6382512"/>
            <a:ext cx="10927080" cy="274320"/>
          </a:xfrm>
          <a:prstGeom prst="roundRect">
            <a:avLst>
              <a:gd name="adj" fmla="val 13333"/>
            </a:avLst>
          </a:prstGeom>
          <a:solidFill>
            <a:srgbClr val="E9EEF4"/>
          </a:solidFill>
          <a:ln w="8890">
            <a:solidFill>
              <a:srgbClr val="D3DA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6451092"/>
            <a:ext cx="10561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25466"/>
                </a:solidFill>
              </a:rPr>
              <a:t>DESIGN LENS  |  Always show: what the number means  •  whether it is ready  •  what evidence supports it  •  what the user can do next</a:t>
            </a:r>
            <a:endParaRPr lang="en-US" sz="8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NIQ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Activate Retail Media Measurement - Design Mind Map</dc:title>
  <dc:subject>Retail Media Measurement design mind map</dc:subject>
  <dc:creator>Mohammad Belghiszadeh</dc:creator>
  <cp:lastModifiedBy>Mohammad Belghiszadeh</cp:lastModifiedBy>
  <cp:revision>2</cp:revision>
  <dcterms:created xsi:type="dcterms:W3CDTF">2026-10-02T12:53:13Z</dcterms:created>
  <dcterms:modified xsi:type="dcterms:W3CDTF">2026-10-02T14:19:11Z</dcterms:modified>
</cp:coreProperties>
</file>